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2" r:id="rId5"/>
    <p:sldId id="263" r:id="rId6"/>
    <p:sldId id="264" r:id="rId7"/>
  </p:sldIdLst>
  <p:sldSz cx="9144000" cy="5143500" type="screen16x9"/>
  <p:notesSz cx="6858000" cy="9144000"/>
  <p:defaultTextStyle>
    <a:defPPr defTabSz="914400">
      <a:defRPr lang="en-US" dirty="0"/>
    </a:defPPr>
    <a:lvl1pPr marL="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/>
    <p:restoredTop sz="78330" autoAdjust="0"/>
  </p:normalViewPr>
  <p:slideViewPr>
    <p:cSldViewPr snapToGrid="0">
      <p:cViewPr varScale="1">
        <p:scale>
          <a:sx n="131" d="100"/>
          <a:sy n="131" d="100"/>
        </p:scale>
        <p:origin x="10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ilselvan Durairaj" userId="6b89d6f2-e73c-4aac-b77f-33b98f614aa4" providerId="ADAL" clId="{F7F8AADC-E38A-43E2-97A6-3CA69965E0D1}"/>
    <pc:docChg chg="modSld">
      <pc:chgData name="Tamilselvan Durairaj" userId="6b89d6f2-e73c-4aac-b77f-33b98f614aa4" providerId="ADAL" clId="{F7F8AADC-E38A-43E2-97A6-3CA69965E0D1}" dt="2026-08-07T08:36:59.139" v="1" actId="20577"/>
      <pc:docMkLst>
        <pc:docMk/>
      </pc:docMkLst>
      <pc:sldChg chg="modNotesTx">
        <pc:chgData name="Tamilselvan Durairaj" userId="6b89d6f2-e73c-4aac-b77f-33b98f614aa4" providerId="ADAL" clId="{F7F8AADC-E38A-43E2-97A6-3CA69965E0D1}" dt="2026-08-07T08:26:26.217" v="0" actId="20577"/>
        <pc:sldMkLst>
          <pc:docMk/>
          <pc:sldMk cId="0" sldId="258"/>
        </pc:sldMkLst>
      </pc:sldChg>
      <pc:sldChg chg="modNotesTx">
        <pc:chgData name="Tamilselvan Durairaj" userId="6b89d6f2-e73c-4aac-b77f-33b98f614aa4" providerId="ADAL" clId="{F7F8AADC-E38A-43E2-97A6-3CA69965E0D1}" dt="2026-08-07T08:36:59.139" v="1" actId="20577"/>
        <pc:sldMkLst>
          <pc:docMk/>
          <pc:sldMk cId="0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 rtl="0">
              <a:defRPr sz="1860"/>
            </a:pPr>
            <a:r>
              <a:rPr lang="en-US" sz="1860" b="1" baseline="0"/>
              <a:t>Total Addressable Market (USD Billions)</a:t>
            </a:r>
          </a:p>
        </c:rich>
      </c:tx>
      <c:overlay val="0"/>
      <c:spPr>
        <a:ln cap="flat">
          <a:noFill/>
          <a:round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TAM ($B)</c:v>
          </c:tx>
          <c:invertIfNegative val="0"/>
          <c:cat>
            <c:strRef>
              <c:f>'Sheet1'!$A$2:$A$7</c:f>
              <c:strCach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</c:strCache>
            </c:strRef>
          </c:cat>
          <c:val>
            <c:numRef>
              <c:f>'Sheet1'!$B$2:$B$7</c:f>
              <c:numCache>
                <c:formatCode>General</c:formatCode>
                <c:ptCount val="6"/>
                <c:pt idx="0">
                  <c:v>310</c:v>
                </c:pt>
                <c:pt idx="1">
                  <c:v>355</c:v>
                </c:pt>
                <c:pt idx="2">
                  <c:v>405</c:v>
                </c:pt>
                <c:pt idx="3">
                  <c:v>463</c:v>
                </c:pt>
                <c:pt idx="4">
                  <c:v>520</c:v>
                </c:pt>
                <c:pt idx="5">
                  <c:v>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5D-4379-9201-84CF618C2285}"/>
            </c:ext>
          </c:extLst>
        </c:ser>
        <c:ser>
          <c:idx val="1"/>
          <c:order val="1"/>
          <c:tx>
            <c:v>SAM ($B)</c:v>
          </c:tx>
          <c:invertIfNegative val="0"/>
          <c:cat>
            <c:strRef>
              <c:f>'Sheet1'!$A$2:$A$7</c:f>
              <c:strCach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</c:strCache>
            </c:strRef>
          </c:cat>
          <c:val>
            <c:numRef>
              <c:f>'Sheet1'!$C$2:$C$7</c:f>
              <c:numCache>
                <c:formatCode>General</c:formatCode>
                <c:ptCount val="6"/>
                <c:pt idx="0">
                  <c:v>80</c:v>
                </c:pt>
                <c:pt idx="1">
                  <c:v>92</c:v>
                </c:pt>
                <c:pt idx="2">
                  <c:v>105</c:v>
                </c:pt>
                <c:pt idx="3">
                  <c:v>120</c:v>
                </c:pt>
                <c:pt idx="4">
                  <c:v>138</c:v>
                </c:pt>
                <c:pt idx="5">
                  <c:v>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5D-4379-9201-84CF618C22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9983360"/>
        <c:axId val="57253888"/>
      </c:barChart>
      <c:catAx>
        <c:axId val="599833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57253888"/>
        <c:crosses val="autoZero"/>
        <c:auto val="1"/>
        <c:lblAlgn val="ctr"/>
        <c:lblOffset val="100"/>
        <c:noMultiLvlLbl val="0"/>
      </c:catAx>
      <c:valAx>
        <c:axId val="572538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59983360"/>
        <c:crosses val="autoZero"/>
        <c:crossBetween val="between"/>
      </c:valAx>
      <c:spPr>
        <a:solidFill>
          <a:srgbClr val="FFFFFF"/>
        </a:solidFill>
        <a:ln cap="flat">
          <a:noFill/>
          <a:round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 rtl="0">
              <a:defRPr sz="1860"/>
            </a:pPr>
            <a:r>
              <a:rPr lang="en-US" sz="1860" b="1" baseline="0"/>
              <a:t>Projected ARR (USD Millions)</a:t>
            </a:r>
          </a:p>
        </c:rich>
      </c:tx>
      <c:overlay val="0"/>
      <c:spPr>
        <a:ln cap="flat">
          <a:noFill/>
          <a:round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Conservative</c:v>
          </c:tx>
          <c:cat>
            <c:strRef>
              <c:f>'Sheet1'!$A$2:$A$6</c:f>
              <c:strCach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strCache>
            </c:strRef>
          </c:cat>
          <c:val>
            <c:numRef>
              <c:f>'Sheet1'!$B$2:$B$6</c:f>
              <c:numCache>
                <c:formatCode>General</c:formatCode>
                <c:ptCount val="5"/>
                <c:pt idx="0">
                  <c:v>5</c:v>
                </c:pt>
                <c:pt idx="1">
                  <c:v>22</c:v>
                </c:pt>
                <c:pt idx="2">
                  <c:v>65</c:v>
                </c:pt>
                <c:pt idx="3">
                  <c:v>130</c:v>
                </c:pt>
                <c:pt idx="4">
                  <c:v>220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03-4377-BA5A-7C3DF240560B}"/>
            </c:ext>
          </c:extLst>
        </c:ser>
        <c:ser>
          <c:idx val="1"/>
          <c:order val="1"/>
          <c:tx>
            <c:v>Base</c:v>
          </c:tx>
          <c:cat>
            <c:strRef>
              <c:f>'Sheet1'!$A$2:$A$6</c:f>
              <c:strCach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strCache>
            </c:strRef>
          </c:cat>
          <c:val>
            <c:numRef>
              <c:f>'Sheet1'!$C$2:$C$6</c:f>
              <c:numCache>
                <c:formatCode>General</c:formatCode>
                <c:ptCount val="5"/>
                <c:pt idx="0">
                  <c:v>5</c:v>
                </c:pt>
                <c:pt idx="1">
                  <c:v>35</c:v>
                </c:pt>
                <c:pt idx="2">
                  <c:v>115</c:v>
                </c:pt>
                <c:pt idx="3">
                  <c:v>230</c:v>
                </c:pt>
                <c:pt idx="4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03-4377-BA5A-7C3DF240560B}"/>
            </c:ext>
          </c:extLst>
        </c:ser>
        <c:ser>
          <c:idx val="2"/>
          <c:order val="2"/>
          <c:tx>
            <c:v>Aggressive</c:v>
          </c:tx>
          <c:cat>
            <c:strRef>
              <c:f>'Sheet1'!$A$2:$A$6</c:f>
              <c:strCach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strCache>
            </c:strRef>
          </c:cat>
          <c:val>
            <c:numRef>
              <c:f>'Sheet1'!$D$2:$D$6</c:f>
              <c:numCache>
                <c:formatCode>General</c:formatCode>
                <c:ptCount val="5"/>
                <c:pt idx="0">
                  <c:v>5</c:v>
                </c:pt>
                <c:pt idx="1">
                  <c:v>50</c:v>
                </c:pt>
                <c:pt idx="2">
                  <c:v>175</c:v>
                </c:pt>
                <c:pt idx="3">
                  <c:v>380</c:v>
                </c:pt>
                <c:pt idx="4">
                  <c:v>650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03-4377-BA5A-7C3DF24056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9983360"/>
        <c:axId val="57253888"/>
      </c:lineChart>
      <c:catAx>
        <c:axId val="599833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57253888"/>
        <c:crosses val="autoZero"/>
        <c:auto val="1"/>
        <c:lblAlgn val="ctr"/>
        <c:lblOffset val="100"/>
        <c:noMultiLvlLbl val="0"/>
      </c:catAx>
      <c:valAx>
        <c:axId val="572538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low"/>
        <c:crossAx val="59983360"/>
        <c:crosses val="autoZero"/>
        <c:crossBetween val="between"/>
      </c:valAx>
      <c:spPr>
        <a:solidFill>
          <a:srgbClr val="FFFFFF"/>
        </a:solidFill>
        <a:ln cap="flat">
          <a:noFill/>
          <a:round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l">
              <a:defRPr sz="1200" dirty="0"/>
            </a:lvl1pPr>
          </a:lstStyle>
          <a:p>
            <a:pPr algn="l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r">
              <a:defRPr sz="1200" dirty="0"/>
            </a:lvl1pPr>
          </a:lstStyle>
          <a:p>
            <a:pPr algn="r"/>
            <a:fld id="{5ABAEF09-C7AA-4246-A651-C392B302FD5F}" type="datetimeFigureOut">
              <a:rPr lang="en-US"/>
              <a:t>8/12/2026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ln w="12700">
            <a:solidFill>
              <a:srgbClr val="000000"/>
            </a:solidFill>
            <a:headEnd type="none"/>
            <a:tailEnd type="none"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ln>
            <a:headEnd type="none"/>
            <a:tailEnd type="none"/>
          </a:ln>
        </p:spPr>
        <p:txBody>
          <a:bodyPr wrap="square" lIns="91440" tIns="45720" rIns="91440" bIns="45720"/>
          <a:lstStyle/>
          <a:p>
            <a:r>
              <a:t>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l">
              <a:defRPr sz="1200" dirty="0"/>
            </a:lvl1pPr>
          </a:lstStyle>
          <a:p>
            <a:pPr algn="l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r">
              <a:defRPr sz="1200" dirty="0"/>
            </a:lvl1pPr>
          </a:lstStyle>
          <a:p>
            <a:pPr algn="r"/>
            <a:fld id="{48D12737-90E4-4BCB-B4E1-817E18E38DF6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dirty="0">
        <a:latin typeface="Calibri"/>
        <a:ea typeface="Calibri"/>
        <a:cs typeface="Calibr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Welcome the audience and introduce the presentation. This deck outlines our market opportunity analysis, covering the total addressable market, key growth drivers, competitive landscape, and our go-to-market strategy. Emphasize that the $500B+ figure is the combined TAM across our three target verticals.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r"/>
            <a:fld id="{31C84DC2-8647-4D05-BA0C-FC395A349050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r"/>
            <a:fld id="{D1CE79B6-1015-4B15-90DF-5E051CD56C27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fontAlgn="t"/>
            <a:r>
              <a:rPr lang="en-US" sz="1200" b="0" i="0" dirty="0">
                <a:effectLst/>
                <a:latin typeface="Calibri"/>
                <a:ea typeface="Calibri"/>
                <a:cs typeface="Calibri"/>
              </a:rPr>
              <a:t>This 2x2 positions us in the high-capability, competitive-price quadrant, the ideal growth zone. Legacy Vendor A offers strong capabilities but is expensive and slower to innovate, often losing opportunities due to limited agility. Competitor B is competitively priced but lacks the capabilities required by growing customers. Niche Player C and Competitor D serve specific market segments well but lack broader platform capabilities. We differentiate ourselves through our AI-native architecture, open APIs, and superior support SLAs. When asked, "Why not just use Competitor </a:t>
            </a:r>
            <a:r>
              <a:rPr lang="en-US" sz="1200" b="0" i="0">
                <a:effectLst/>
                <a:latin typeface="Calibri"/>
                <a:ea typeface="Calibri"/>
                <a:cs typeface="Calibri"/>
              </a:rPr>
              <a:t>D?" answer </a:t>
            </a:r>
            <a:r>
              <a:rPr lang="en-US" sz="1200" b="0" i="0" dirty="0">
                <a:effectLst/>
                <a:latin typeface="Calibri"/>
                <a:ea typeface="Calibri"/>
                <a:cs typeface="Calibri"/>
              </a:rPr>
              <a:t>is our API-first model and lack of vendor lock-in.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r"/>
            <a:fld id="{2AD04CB2-803D-4843-B846-003F71999705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  <a:p>
            <a:r>
              <a:rPr lang="en-US" dirty="0"/>
              <a:t>Present all three scenarios investors appreciate seeing conservative, base, and aggressive cases. Base case ($400M ARR by 2029) is our internal operating plan; requires $35M ARR in 2026 as the on-ramp. 75% gross margin is achievable given our SaaS-first architecture with minimal COGS. Net Revenue Retention &gt;120% is our North Star metric. It means existing customers expand faster than any churn. This is the key indicator VCs will focus on. Be ready to walk through the unit economics: CAC payback period of 18 months, LTV:CAC of 5:1.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r"/>
            <a:fld id="{7AF12A26-9AE0-48F4-8891-9AA6CC8A4E21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r"/>
            <a:fld id="{93D54929-6429-4871-B633-BA50B37DE5D5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dirty="0"/>
          </a:p>
          <a:p>
            <a:r>
              <a:rPr dirty="0"/>
              <a:t>Close strongly with a clear and specific call to action. Step 01 (Demo): Have a calendar link ready suggest booking before they leave the room. Step 02 (Research report): The full 40-page report is available on our website; send the link in follow-up email. Step 03 (ROI analysis): This is the highest-intent action have your enterprise AE follow up within 24 hours. Step 04 (Pilot program): 90-day pilot with guaranteed POV outcome is our strongest deal-closer zero-risk entry for prospects. Thank the audience, invite Q&amp;A, and remind them of the follow-up materials you will 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r"/>
            <a:fld id="{58EBB0DB-BA2F-4C65-9F18-008877356D69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30D1D-EC81-4D12-BBAE-7AD5C46FE905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4" name="Rectangle4"/>
          <p:cNvSpPr>
            <a:spLocks/>
          </p:cNvSpPr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5" name="Rectangle5"/>
          <p:cNvSpPr>
            <a:spLocks/>
          </p:cNvSpPr>
          <p:nvPr/>
        </p:nvSpPr>
        <p:spPr>
          <a:xfrm>
            <a:off x="0" y="76200"/>
            <a:ext cx="101600" cy="49911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6" name="TextBox6"/>
          <p:cNvSpPr txBox="1">
            <a:spLocks noChangeArrowheads="1"/>
          </p:cNvSpPr>
          <p:nvPr/>
        </p:nvSpPr>
        <p:spPr>
          <a:xfrm>
            <a:off x="508000" y="1397000"/>
            <a:ext cx="8128000" cy="1016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40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Market Opportunity</a:t>
            </a:r>
          </a:p>
        </p:txBody>
      </p:sp>
      <p:sp>
        <p:nvSpPr>
          <p:cNvPr id="7" name="TextBox7"/>
          <p:cNvSpPr txBox="1">
            <a:spLocks noChangeArrowheads="1"/>
          </p:cNvSpPr>
          <p:nvPr/>
        </p:nvSpPr>
        <p:spPr>
          <a:xfrm>
            <a:off x="508000" y="2540000"/>
            <a:ext cx="8128000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800" b="0" dirty="0">
                <a:solidFill>
                  <a:srgbClr val="00B4D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Unlocking Growth in a $500B+ Addressable Market</a:t>
            </a:r>
          </a:p>
        </p:txBody>
      </p:sp>
      <p:sp>
        <p:nvSpPr>
          <p:cNvPr id="8" name="TextBox8"/>
          <p:cNvSpPr txBox="1">
            <a:spLocks noChangeArrowheads="1"/>
          </p:cNvSpPr>
          <p:nvPr/>
        </p:nvSpPr>
        <p:spPr>
          <a:xfrm>
            <a:off x="508000" y="4318000"/>
            <a:ext cx="8128000" cy="381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200" b="0" dirty="0">
                <a:solidFill>
                  <a:srgbClr val="A0B9D7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Strategic Insights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0" y="0"/>
            <a:ext cx="9144000" cy="8890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4" name="Rectangle4"/>
          <p:cNvSpPr>
            <a:spLocks/>
          </p:cNvSpPr>
          <p:nvPr/>
        </p:nvSpPr>
        <p:spPr>
          <a:xfrm>
            <a:off x="0" y="863600"/>
            <a:ext cx="9144000" cy="508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5" name="TextBox5"/>
          <p:cNvSpPr txBox="1">
            <a:spLocks noChangeArrowheads="1"/>
          </p:cNvSpPr>
          <p:nvPr/>
        </p:nvSpPr>
        <p:spPr>
          <a:xfrm>
            <a:off x="381000" y="152400"/>
            <a:ext cx="8382000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22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Market Size &amp; Growth Trajectory</a:t>
            </a:r>
          </a:p>
        </p:txBody>
      </p:sp>
      <p:graphicFrame>
        <p:nvGraphicFramePr>
          <p:cNvPr id="15" name="Chart 14"/>
          <p:cNvGraphicFramePr/>
          <p:nvPr/>
        </p:nvGraphicFramePr>
        <p:xfrm>
          <a:off x="381000" y="1041400"/>
          <a:ext cx="5588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6"/>
          <p:cNvSpPr>
            <a:spLocks/>
          </p:cNvSpPr>
          <p:nvPr/>
        </p:nvSpPr>
        <p:spPr>
          <a:xfrm>
            <a:off x="6197600" y="1041400"/>
            <a:ext cx="2565400" cy="1270000"/>
          </a:xfrm>
          <a:prstGeom prst="rect">
            <a:avLst/>
          </a:prstGeom>
          <a:solidFill>
            <a:srgbClr val="E6F2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7" name="TextBox7"/>
          <p:cNvSpPr txBox="1">
            <a:spLocks noChangeArrowheads="1"/>
          </p:cNvSpPr>
          <p:nvPr/>
        </p:nvSpPr>
        <p:spPr>
          <a:xfrm>
            <a:off x="6324600" y="1117600"/>
            <a:ext cx="2311400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00" b="1" dirty="0">
                <a:solidFill>
                  <a:srgbClr val="1E5FA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Key Insight</a:t>
            </a:r>
          </a:p>
        </p:txBody>
      </p:sp>
      <p:sp>
        <p:nvSpPr>
          <p:cNvPr id="8" name="TextBox8"/>
          <p:cNvSpPr txBox="1">
            <a:spLocks noChangeArrowheads="1"/>
          </p:cNvSpPr>
          <p:nvPr/>
        </p:nvSpPr>
        <p:spPr>
          <a:xfrm>
            <a:off x="6324600" y="1422400"/>
            <a:ext cx="2311400" cy="812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Market nearly doubles from 2022-2027, with our SAM growing 2x faster than overall TAM.</a:t>
            </a:r>
          </a:p>
        </p:txBody>
      </p:sp>
      <p:sp>
        <p:nvSpPr>
          <p:cNvPr id="9" name="Rectangle9"/>
          <p:cNvSpPr>
            <a:spLocks/>
          </p:cNvSpPr>
          <p:nvPr/>
        </p:nvSpPr>
        <p:spPr>
          <a:xfrm>
            <a:off x="6197600" y="2489200"/>
            <a:ext cx="2565400" cy="1143000"/>
          </a:xfrm>
          <a:prstGeom prst="rect">
            <a:avLst/>
          </a:prstGeom>
          <a:solidFill>
            <a:srgbClr val="FFF8E1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0" name="TextBox10"/>
          <p:cNvSpPr txBox="1">
            <a:spLocks noChangeArrowheads="1"/>
          </p:cNvSpPr>
          <p:nvPr/>
        </p:nvSpPr>
        <p:spPr>
          <a:xfrm>
            <a:off x="6324600" y="2565400"/>
            <a:ext cx="2311400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00" b="1" dirty="0">
                <a:solidFill>
                  <a:srgbClr val="F4A922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Our Capture Rate</a:t>
            </a:r>
          </a:p>
        </p:txBody>
      </p:sp>
      <p:sp>
        <p:nvSpPr>
          <p:cNvPr id="11" name="TextBox11"/>
          <p:cNvSpPr txBox="1">
            <a:spLocks noChangeArrowheads="1"/>
          </p:cNvSpPr>
          <p:nvPr/>
        </p:nvSpPr>
        <p:spPr>
          <a:xfrm>
            <a:off x="6324600" y="2870200"/>
            <a:ext cx="2311400" cy="685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Current: 2.4% of SAM
Target 2027: 8% of SAM
= $12.6B revenue potential</a:t>
            </a:r>
          </a:p>
        </p:txBody>
      </p:sp>
      <p:sp>
        <p:nvSpPr>
          <p:cNvPr id="12" name="Rectangle12"/>
          <p:cNvSpPr>
            <a:spLocks/>
          </p:cNvSpPr>
          <p:nvPr/>
        </p:nvSpPr>
        <p:spPr>
          <a:xfrm>
            <a:off x="6197600" y="3810000"/>
            <a:ext cx="2565400" cy="1041400"/>
          </a:xfrm>
          <a:prstGeom prst="rect">
            <a:avLst/>
          </a:prstGeom>
          <a:solidFill>
            <a:srgbClr val="E8FFF5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3" name="TextBox13"/>
          <p:cNvSpPr txBox="1">
            <a:spLocks noChangeArrowheads="1"/>
          </p:cNvSpPr>
          <p:nvPr/>
        </p:nvSpPr>
        <p:spPr>
          <a:xfrm>
            <a:off x="6324600" y="3886200"/>
            <a:ext cx="2311400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00" b="1" dirty="0">
                <a:solidFill>
                  <a:srgbClr val="00B4D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Growth Catalyst</a:t>
            </a:r>
          </a:p>
        </p:txBody>
      </p:sp>
      <p:sp>
        <p:nvSpPr>
          <p:cNvPr id="14" name="TextBox14"/>
          <p:cNvSpPr txBox="1">
            <a:spLocks noChangeArrowheads="1"/>
          </p:cNvSpPr>
          <p:nvPr/>
        </p:nvSpPr>
        <p:spPr>
          <a:xfrm>
            <a:off x="6324600" y="4191000"/>
            <a:ext cx="2311400" cy="584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AI/ML adoption and cloud migration cycles are the primary demand accelerators.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0" y="0"/>
            <a:ext cx="9144000" cy="8890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4" name="Rectangle4"/>
          <p:cNvSpPr>
            <a:spLocks/>
          </p:cNvSpPr>
          <p:nvPr/>
        </p:nvSpPr>
        <p:spPr>
          <a:xfrm>
            <a:off x="0" y="863600"/>
            <a:ext cx="9144000" cy="508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5" name="TextBox5"/>
          <p:cNvSpPr txBox="1">
            <a:spLocks noChangeArrowheads="1"/>
          </p:cNvSpPr>
          <p:nvPr/>
        </p:nvSpPr>
        <p:spPr>
          <a:xfrm>
            <a:off x="381000" y="152400"/>
            <a:ext cx="8382000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22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Competitive Landscape</a:t>
            </a:r>
          </a:p>
        </p:txBody>
      </p:sp>
      <p:sp>
        <p:nvSpPr>
          <p:cNvPr id="6" name="TextBox6"/>
          <p:cNvSpPr txBox="1">
            <a:spLocks noChangeArrowheads="1"/>
          </p:cNvSpPr>
          <p:nvPr/>
        </p:nvSpPr>
        <p:spPr>
          <a:xfrm>
            <a:off x="381000" y="4699000"/>
            <a:ext cx="2540000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0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&lt;-- Lower Capability</a:t>
            </a:r>
          </a:p>
        </p:txBody>
      </p:sp>
      <p:sp>
        <p:nvSpPr>
          <p:cNvPr id="7" name="TextBox7"/>
          <p:cNvSpPr txBox="1">
            <a:spLocks noChangeArrowheads="1"/>
          </p:cNvSpPr>
          <p:nvPr/>
        </p:nvSpPr>
        <p:spPr>
          <a:xfrm>
            <a:off x="6223000" y="4699000"/>
            <a:ext cx="2540000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r" defTabSz="914400"/>
            <a:r>
              <a:rPr sz="90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Higher Capability --&gt;</a:t>
            </a:r>
          </a:p>
        </p:txBody>
      </p:sp>
      <p:sp>
        <p:nvSpPr>
          <p:cNvPr id="8" name="Rectangle8"/>
          <p:cNvSpPr>
            <a:spLocks/>
          </p:cNvSpPr>
          <p:nvPr/>
        </p:nvSpPr>
        <p:spPr>
          <a:xfrm>
            <a:off x="508000" y="1016000"/>
            <a:ext cx="6858000" cy="3492500"/>
          </a:xfrm>
          <a:prstGeom prst="rect">
            <a:avLst/>
          </a:prstGeom>
          <a:noFill/>
          <a:ln w="12700"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cxnSp>
        <p:nvCxnSpPr>
          <p:cNvPr id="9" name="Line9"/>
          <p:cNvCxnSpPr/>
          <p:nvPr/>
        </p:nvCxnSpPr>
        <p:spPr>
          <a:xfrm>
            <a:off x="508000" y="2755900"/>
            <a:ext cx="6858000" cy="12700"/>
          </a:xfrm>
          <a:prstGeom prst="line">
            <a:avLst/>
          </a:prstGeom>
          <a:ln w="9525"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ne10"/>
          <p:cNvCxnSpPr/>
          <p:nvPr/>
        </p:nvCxnSpPr>
        <p:spPr>
          <a:xfrm>
            <a:off x="3937000" y="1016000"/>
            <a:ext cx="12700" cy="3492500"/>
          </a:xfrm>
          <a:prstGeom prst="line">
            <a:avLst/>
          </a:prstGeom>
          <a:ln w="9525"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11"/>
          <p:cNvSpPr txBox="1">
            <a:spLocks noChangeArrowheads="1"/>
          </p:cNvSpPr>
          <p:nvPr/>
        </p:nvSpPr>
        <p:spPr>
          <a:xfrm>
            <a:off x="635000" y="1092200"/>
            <a:ext cx="3048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00" b="0" dirty="0">
                <a:solidFill>
                  <a:srgbClr val="B4B4B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 Price / Low Capability</a:t>
            </a:r>
          </a:p>
        </p:txBody>
      </p:sp>
      <p:sp>
        <p:nvSpPr>
          <p:cNvPr id="12" name="TextBox12"/>
          <p:cNvSpPr txBox="1">
            <a:spLocks noChangeArrowheads="1"/>
          </p:cNvSpPr>
          <p:nvPr/>
        </p:nvSpPr>
        <p:spPr>
          <a:xfrm>
            <a:off x="4013200" y="1092200"/>
            <a:ext cx="3048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00" b="0" dirty="0">
                <a:solidFill>
                  <a:srgbClr val="B4B4B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 Price / High Capability</a:t>
            </a:r>
          </a:p>
        </p:txBody>
      </p:sp>
      <p:sp>
        <p:nvSpPr>
          <p:cNvPr id="13" name="TextBox13"/>
          <p:cNvSpPr txBox="1">
            <a:spLocks noChangeArrowheads="1"/>
          </p:cNvSpPr>
          <p:nvPr/>
        </p:nvSpPr>
        <p:spPr>
          <a:xfrm>
            <a:off x="635000" y="4318000"/>
            <a:ext cx="3048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00" b="0" dirty="0">
                <a:solidFill>
                  <a:srgbClr val="B4B4B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Low Price / Low Capability</a:t>
            </a:r>
          </a:p>
        </p:txBody>
      </p:sp>
      <p:sp>
        <p:nvSpPr>
          <p:cNvPr id="14" name="TextBox14"/>
          <p:cNvSpPr txBox="1">
            <a:spLocks noChangeArrowheads="1"/>
          </p:cNvSpPr>
          <p:nvPr/>
        </p:nvSpPr>
        <p:spPr>
          <a:xfrm>
            <a:off x="4013200" y="4318000"/>
            <a:ext cx="3048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00" b="0" dirty="0">
                <a:solidFill>
                  <a:srgbClr val="B4B4B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Low Price / High Capability</a:t>
            </a:r>
          </a:p>
        </p:txBody>
      </p:sp>
      <p:sp>
        <p:nvSpPr>
          <p:cNvPr id="15" name="Rectangle15"/>
          <p:cNvSpPr>
            <a:spLocks/>
          </p:cNvSpPr>
          <p:nvPr/>
        </p:nvSpPr>
        <p:spPr>
          <a:xfrm>
            <a:off x="1016000" y="1333500"/>
            <a:ext cx="914400" cy="355600"/>
          </a:xfrm>
          <a:prstGeom prst="rect">
            <a:avLst/>
          </a:prstGeom>
          <a:solidFill>
            <a:srgbClr val="A0A0A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6" name="TextBox16"/>
          <p:cNvSpPr txBox="1">
            <a:spLocks noChangeArrowheads="1"/>
          </p:cNvSpPr>
          <p:nvPr/>
        </p:nvSpPr>
        <p:spPr>
          <a:xfrm>
            <a:off x="1016000" y="1333500"/>
            <a:ext cx="914400" cy="355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8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Legacy Vendor A</a:t>
            </a:r>
          </a:p>
        </p:txBody>
      </p:sp>
      <p:sp>
        <p:nvSpPr>
          <p:cNvPr id="17" name="Rectangle17"/>
          <p:cNvSpPr>
            <a:spLocks/>
          </p:cNvSpPr>
          <p:nvPr/>
        </p:nvSpPr>
        <p:spPr>
          <a:xfrm>
            <a:off x="2540000" y="2159000"/>
            <a:ext cx="914400" cy="355600"/>
          </a:xfrm>
          <a:prstGeom prst="rect">
            <a:avLst/>
          </a:prstGeom>
          <a:solidFill>
            <a:srgbClr val="A0A0A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8" name="TextBox18"/>
          <p:cNvSpPr txBox="1">
            <a:spLocks noChangeArrowheads="1"/>
          </p:cNvSpPr>
          <p:nvPr/>
        </p:nvSpPr>
        <p:spPr>
          <a:xfrm>
            <a:off x="2540000" y="2159000"/>
            <a:ext cx="914400" cy="355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8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Competitor B</a:t>
            </a:r>
          </a:p>
        </p:txBody>
      </p:sp>
      <p:sp>
        <p:nvSpPr>
          <p:cNvPr id="19" name="Rectangle19"/>
          <p:cNvSpPr>
            <a:spLocks/>
          </p:cNvSpPr>
          <p:nvPr/>
        </p:nvSpPr>
        <p:spPr>
          <a:xfrm>
            <a:off x="1143000" y="3048000"/>
            <a:ext cx="914400" cy="355600"/>
          </a:xfrm>
          <a:prstGeom prst="rect">
            <a:avLst/>
          </a:prstGeom>
          <a:solidFill>
            <a:srgbClr val="A0A0A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0" name="TextBox20"/>
          <p:cNvSpPr txBox="1">
            <a:spLocks noChangeArrowheads="1"/>
          </p:cNvSpPr>
          <p:nvPr/>
        </p:nvSpPr>
        <p:spPr>
          <a:xfrm>
            <a:off x="1143000" y="3048000"/>
            <a:ext cx="914400" cy="355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8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Niche Player C</a:t>
            </a:r>
          </a:p>
        </p:txBody>
      </p:sp>
      <p:sp>
        <p:nvSpPr>
          <p:cNvPr id="21" name="Rectangle21"/>
          <p:cNvSpPr>
            <a:spLocks/>
          </p:cNvSpPr>
          <p:nvPr/>
        </p:nvSpPr>
        <p:spPr>
          <a:xfrm>
            <a:off x="5080000" y="2984500"/>
            <a:ext cx="914400" cy="355600"/>
          </a:xfrm>
          <a:prstGeom prst="rect">
            <a:avLst/>
          </a:prstGeom>
          <a:solidFill>
            <a:srgbClr val="A0A0A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2" name="TextBox22"/>
          <p:cNvSpPr txBox="1">
            <a:spLocks noChangeArrowheads="1"/>
          </p:cNvSpPr>
          <p:nvPr/>
        </p:nvSpPr>
        <p:spPr>
          <a:xfrm>
            <a:off x="5080000" y="2984500"/>
            <a:ext cx="914400" cy="355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8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Competitor D</a:t>
            </a:r>
          </a:p>
        </p:txBody>
      </p:sp>
      <p:sp>
        <p:nvSpPr>
          <p:cNvPr id="23" name="Rectangle23"/>
          <p:cNvSpPr>
            <a:spLocks/>
          </p:cNvSpPr>
          <p:nvPr/>
        </p:nvSpPr>
        <p:spPr>
          <a:xfrm>
            <a:off x="5461000" y="1270000"/>
            <a:ext cx="1117600" cy="355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4" name="TextBox24"/>
          <p:cNvSpPr txBox="1">
            <a:spLocks noChangeArrowheads="1"/>
          </p:cNvSpPr>
          <p:nvPr/>
        </p:nvSpPr>
        <p:spPr>
          <a:xfrm>
            <a:off x="5461000" y="1270000"/>
            <a:ext cx="1117600" cy="355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900" b="1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 ARE HERE</a:t>
            </a:r>
          </a:p>
        </p:txBody>
      </p:sp>
      <p:sp>
        <p:nvSpPr>
          <p:cNvPr id="25" name="Rectangle25"/>
          <p:cNvSpPr>
            <a:spLocks/>
          </p:cNvSpPr>
          <p:nvPr/>
        </p:nvSpPr>
        <p:spPr>
          <a:xfrm>
            <a:off x="7594600" y="1016000"/>
            <a:ext cx="1447800" cy="3492500"/>
          </a:xfrm>
          <a:prstGeom prst="rect">
            <a:avLst/>
          </a:prstGeom>
          <a:solidFill>
            <a:srgbClr val="F0F4F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6" name="TextBox26"/>
          <p:cNvSpPr txBox="1">
            <a:spLocks noChangeArrowheads="1"/>
          </p:cNvSpPr>
          <p:nvPr/>
        </p:nvSpPr>
        <p:spPr>
          <a:xfrm>
            <a:off x="7670800" y="1092200"/>
            <a:ext cx="1295400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00" b="1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Our Edge</a:t>
            </a:r>
          </a:p>
        </p:txBody>
      </p:sp>
      <p:sp>
        <p:nvSpPr>
          <p:cNvPr id="27" name="Rectangle27"/>
          <p:cNvSpPr>
            <a:spLocks/>
          </p:cNvSpPr>
          <p:nvPr/>
        </p:nvSpPr>
        <p:spPr>
          <a:xfrm>
            <a:off x="7670800" y="1422400"/>
            <a:ext cx="101600" cy="228600"/>
          </a:xfrm>
          <a:prstGeom prst="rect">
            <a:avLst/>
          </a:prstGeom>
          <a:solidFill>
            <a:srgbClr val="1E5FA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8" name="TextBox28"/>
          <p:cNvSpPr txBox="1">
            <a:spLocks noChangeArrowheads="1"/>
          </p:cNvSpPr>
          <p:nvPr/>
        </p:nvSpPr>
        <p:spPr>
          <a:xfrm>
            <a:off x="7848600" y="1422400"/>
            <a:ext cx="1143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AI-native core</a:t>
            </a:r>
          </a:p>
        </p:txBody>
      </p:sp>
      <p:sp>
        <p:nvSpPr>
          <p:cNvPr id="29" name="Rectangle29"/>
          <p:cNvSpPr>
            <a:spLocks/>
          </p:cNvSpPr>
          <p:nvPr/>
        </p:nvSpPr>
        <p:spPr>
          <a:xfrm>
            <a:off x="7670800" y="1981200"/>
            <a:ext cx="101600" cy="2286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0" name="TextBox30"/>
          <p:cNvSpPr txBox="1">
            <a:spLocks noChangeArrowheads="1"/>
          </p:cNvSpPr>
          <p:nvPr/>
        </p:nvSpPr>
        <p:spPr>
          <a:xfrm>
            <a:off x="7848600" y="1981200"/>
            <a:ext cx="1143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Open API first</a:t>
            </a:r>
          </a:p>
        </p:txBody>
      </p:sp>
      <p:sp>
        <p:nvSpPr>
          <p:cNvPr id="31" name="Rectangle31"/>
          <p:cNvSpPr>
            <a:spLocks/>
          </p:cNvSpPr>
          <p:nvPr/>
        </p:nvSpPr>
        <p:spPr>
          <a:xfrm>
            <a:off x="7670800" y="2540000"/>
            <a:ext cx="101600" cy="228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2" name="TextBox32"/>
          <p:cNvSpPr txBox="1">
            <a:spLocks noChangeArrowheads="1"/>
          </p:cNvSpPr>
          <p:nvPr/>
        </p:nvSpPr>
        <p:spPr>
          <a:xfrm>
            <a:off x="7848600" y="2540000"/>
            <a:ext cx="1143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No-code UI</a:t>
            </a:r>
          </a:p>
        </p:txBody>
      </p:sp>
      <p:sp>
        <p:nvSpPr>
          <p:cNvPr id="33" name="Rectangle33"/>
          <p:cNvSpPr>
            <a:spLocks/>
          </p:cNvSpPr>
          <p:nvPr/>
        </p:nvSpPr>
        <p:spPr>
          <a:xfrm>
            <a:off x="7670800" y="3098800"/>
            <a:ext cx="101600" cy="228600"/>
          </a:xfrm>
          <a:prstGeom prst="rect">
            <a:avLst/>
          </a:prstGeom>
          <a:solidFill>
            <a:srgbClr val="1E5FA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4" name="TextBox34"/>
          <p:cNvSpPr txBox="1">
            <a:spLocks noChangeArrowheads="1"/>
          </p:cNvSpPr>
          <p:nvPr/>
        </p:nvSpPr>
        <p:spPr>
          <a:xfrm>
            <a:off x="7848600" y="3098800"/>
            <a:ext cx="1143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99.9% SLA</a:t>
            </a:r>
          </a:p>
        </p:txBody>
      </p:sp>
      <p:sp>
        <p:nvSpPr>
          <p:cNvPr id="35" name="Rectangle35"/>
          <p:cNvSpPr>
            <a:spLocks/>
          </p:cNvSpPr>
          <p:nvPr/>
        </p:nvSpPr>
        <p:spPr>
          <a:xfrm>
            <a:off x="7670800" y="3657600"/>
            <a:ext cx="101600" cy="2286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6" name="TextBox36"/>
          <p:cNvSpPr txBox="1">
            <a:spLocks noChangeArrowheads="1"/>
          </p:cNvSpPr>
          <p:nvPr/>
        </p:nvSpPr>
        <p:spPr>
          <a:xfrm>
            <a:off x="7848600" y="3657600"/>
            <a:ext cx="1143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&lt;48h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0" y="0"/>
            <a:ext cx="9144000" cy="8890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4" name="Rectangle4"/>
          <p:cNvSpPr>
            <a:spLocks/>
          </p:cNvSpPr>
          <p:nvPr/>
        </p:nvSpPr>
        <p:spPr>
          <a:xfrm>
            <a:off x="0" y="863600"/>
            <a:ext cx="9144000" cy="508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5" name="TextBox5"/>
          <p:cNvSpPr txBox="1">
            <a:spLocks noChangeArrowheads="1"/>
          </p:cNvSpPr>
          <p:nvPr/>
        </p:nvSpPr>
        <p:spPr>
          <a:xfrm>
            <a:off x="381000" y="152400"/>
            <a:ext cx="8382000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22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Financial Projections</a:t>
            </a:r>
          </a:p>
        </p:txBody>
      </p:sp>
      <p:graphicFrame>
        <p:nvGraphicFramePr>
          <p:cNvPr id="23" name="Chart 22"/>
          <p:cNvGraphicFramePr/>
          <p:nvPr/>
        </p:nvGraphicFramePr>
        <p:xfrm>
          <a:off x="381000" y="1041400"/>
          <a:ext cx="5334000" cy="374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6"/>
          <p:cNvSpPr>
            <a:spLocks/>
          </p:cNvSpPr>
          <p:nvPr/>
        </p:nvSpPr>
        <p:spPr>
          <a:xfrm>
            <a:off x="5943600" y="1041400"/>
            <a:ext cx="2946400" cy="3746500"/>
          </a:xfrm>
          <a:prstGeom prst="rect">
            <a:avLst/>
          </a:prstGeom>
          <a:solidFill>
            <a:srgbClr val="F0F4F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7" name="TextBox7"/>
          <p:cNvSpPr txBox="1">
            <a:spLocks noChangeArrowheads="1"/>
          </p:cNvSpPr>
          <p:nvPr/>
        </p:nvSpPr>
        <p:spPr>
          <a:xfrm>
            <a:off x="6070600" y="1143000"/>
            <a:ext cx="2692400" cy="330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200" b="1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2029 Scenarios</a:t>
            </a:r>
          </a:p>
        </p:txBody>
      </p:sp>
      <p:sp>
        <p:nvSpPr>
          <p:cNvPr id="8" name="Rectangle8"/>
          <p:cNvSpPr>
            <a:spLocks/>
          </p:cNvSpPr>
          <p:nvPr/>
        </p:nvSpPr>
        <p:spPr>
          <a:xfrm>
            <a:off x="6070600" y="1600200"/>
            <a:ext cx="2692400" cy="4826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9" name="TextBox9"/>
          <p:cNvSpPr txBox="1">
            <a:spLocks noChangeArrowheads="1"/>
          </p:cNvSpPr>
          <p:nvPr/>
        </p:nvSpPr>
        <p:spPr>
          <a:xfrm>
            <a:off x="6121400" y="1625600"/>
            <a:ext cx="2590800" cy="203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Conservative ARR</a:t>
            </a:r>
          </a:p>
        </p:txBody>
      </p:sp>
      <p:sp>
        <p:nvSpPr>
          <p:cNvPr id="10" name="TextBox10"/>
          <p:cNvSpPr txBox="1">
            <a:spLocks noChangeArrowheads="1"/>
          </p:cNvSpPr>
          <p:nvPr/>
        </p:nvSpPr>
        <p:spPr>
          <a:xfrm>
            <a:off x="6121400" y="1828800"/>
            <a:ext cx="2590800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400" b="1" dirty="0">
                <a:solidFill>
                  <a:srgbClr val="B4B4B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$220M</a:t>
            </a:r>
          </a:p>
        </p:txBody>
      </p:sp>
      <p:sp>
        <p:nvSpPr>
          <p:cNvPr id="11" name="Rectangle11"/>
          <p:cNvSpPr>
            <a:spLocks/>
          </p:cNvSpPr>
          <p:nvPr/>
        </p:nvSpPr>
        <p:spPr>
          <a:xfrm>
            <a:off x="6070600" y="2184400"/>
            <a:ext cx="2692400" cy="4826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2" name="TextBox12"/>
          <p:cNvSpPr txBox="1">
            <a:spLocks noChangeArrowheads="1"/>
          </p:cNvSpPr>
          <p:nvPr/>
        </p:nvSpPr>
        <p:spPr>
          <a:xfrm>
            <a:off x="6121400" y="2209800"/>
            <a:ext cx="2590800" cy="203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Base Case ARR</a:t>
            </a:r>
          </a:p>
        </p:txBody>
      </p:sp>
      <p:sp>
        <p:nvSpPr>
          <p:cNvPr id="13" name="TextBox13"/>
          <p:cNvSpPr txBox="1">
            <a:spLocks noChangeArrowheads="1"/>
          </p:cNvSpPr>
          <p:nvPr/>
        </p:nvSpPr>
        <p:spPr>
          <a:xfrm>
            <a:off x="6121400" y="2413000"/>
            <a:ext cx="2590800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400" b="1" dirty="0">
                <a:solidFill>
                  <a:srgbClr val="1E5FA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$400M</a:t>
            </a:r>
          </a:p>
        </p:txBody>
      </p:sp>
      <p:sp>
        <p:nvSpPr>
          <p:cNvPr id="14" name="Rectangle14"/>
          <p:cNvSpPr>
            <a:spLocks/>
          </p:cNvSpPr>
          <p:nvPr/>
        </p:nvSpPr>
        <p:spPr>
          <a:xfrm>
            <a:off x="6070600" y="2768600"/>
            <a:ext cx="2692400" cy="4826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5" name="TextBox15"/>
          <p:cNvSpPr txBox="1">
            <a:spLocks noChangeArrowheads="1"/>
          </p:cNvSpPr>
          <p:nvPr/>
        </p:nvSpPr>
        <p:spPr>
          <a:xfrm>
            <a:off x="6121400" y="2794000"/>
            <a:ext cx="2590800" cy="203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Aggressive ARR</a:t>
            </a:r>
          </a:p>
        </p:txBody>
      </p:sp>
      <p:sp>
        <p:nvSpPr>
          <p:cNvPr id="16" name="TextBox16"/>
          <p:cNvSpPr txBox="1">
            <a:spLocks noChangeArrowheads="1"/>
          </p:cNvSpPr>
          <p:nvPr/>
        </p:nvSpPr>
        <p:spPr>
          <a:xfrm>
            <a:off x="6121400" y="2997200"/>
            <a:ext cx="2590800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400" b="1" dirty="0">
                <a:solidFill>
                  <a:srgbClr val="F4A922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$650M</a:t>
            </a:r>
          </a:p>
        </p:txBody>
      </p:sp>
      <p:sp>
        <p:nvSpPr>
          <p:cNvPr id="17" name="Rectangle17"/>
          <p:cNvSpPr>
            <a:spLocks/>
          </p:cNvSpPr>
          <p:nvPr/>
        </p:nvSpPr>
        <p:spPr>
          <a:xfrm>
            <a:off x="6070600" y="3352800"/>
            <a:ext cx="2692400" cy="4826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8" name="TextBox18"/>
          <p:cNvSpPr txBox="1">
            <a:spLocks noChangeArrowheads="1"/>
          </p:cNvSpPr>
          <p:nvPr/>
        </p:nvSpPr>
        <p:spPr>
          <a:xfrm>
            <a:off x="6121400" y="3378200"/>
            <a:ext cx="2590800" cy="203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Gross Margin</a:t>
            </a:r>
          </a:p>
        </p:txBody>
      </p:sp>
      <p:sp>
        <p:nvSpPr>
          <p:cNvPr id="19" name="TextBox19"/>
          <p:cNvSpPr txBox="1">
            <a:spLocks noChangeArrowheads="1"/>
          </p:cNvSpPr>
          <p:nvPr/>
        </p:nvSpPr>
        <p:spPr>
          <a:xfrm>
            <a:off x="6121400" y="3581400"/>
            <a:ext cx="2590800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400" b="1" dirty="0">
                <a:solidFill>
                  <a:srgbClr val="00B4D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~75%</a:t>
            </a:r>
          </a:p>
        </p:txBody>
      </p:sp>
      <p:sp>
        <p:nvSpPr>
          <p:cNvPr id="20" name="Rectangle20"/>
          <p:cNvSpPr>
            <a:spLocks/>
          </p:cNvSpPr>
          <p:nvPr/>
        </p:nvSpPr>
        <p:spPr>
          <a:xfrm>
            <a:off x="6070600" y="3937000"/>
            <a:ext cx="2692400" cy="4826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1" name="TextBox21"/>
          <p:cNvSpPr txBox="1">
            <a:spLocks noChangeArrowheads="1"/>
          </p:cNvSpPr>
          <p:nvPr/>
        </p:nvSpPr>
        <p:spPr>
          <a:xfrm>
            <a:off x="6121400" y="3962400"/>
            <a:ext cx="2590800" cy="203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Net Revenue Retention</a:t>
            </a:r>
          </a:p>
        </p:txBody>
      </p:sp>
      <p:sp>
        <p:nvSpPr>
          <p:cNvPr id="22" name="TextBox22"/>
          <p:cNvSpPr txBox="1">
            <a:spLocks noChangeArrowheads="1"/>
          </p:cNvSpPr>
          <p:nvPr/>
        </p:nvSpPr>
        <p:spPr>
          <a:xfrm>
            <a:off x="6121400" y="4165600"/>
            <a:ext cx="2590800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400" b="1" dirty="0">
                <a:solidFill>
                  <a:srgbClr val="64B47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&gt;120%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4" name="Rectangle4"/>
          <p:cNvSpPr>
            <a:spLocks/>
          </p:cNvSpPr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5" name="Rectangle5"/>
          <p:cNvSpPr>
            <a:spLocks/>
          </p:cNvSpPr>
          <p:nvPr/>
        </p:nvSpPr>
        <p:spPr>
          <a:xfrm>
            <a:off x="0" y="76200"/>
            <a:ext cx="101600" cy="49911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6" name="TextBox6"/>
          <p:cNvSpPr txBox="1">
            <a:spLocks noChangeArrowheads="1"/>
          </p:cNvSpPr>
          <p:nvPr/>
        </p:nvSpPr>
        <p:spPr>
          <a:xfrm>
            <a:off x="508000" y="508000"/>
            <a:ext cx="8128000" cy="6985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32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Why Now?</a:t>
            </a:r>
          </a:p>
        </p:txBody>
      </p:sp>
      <p:sp>
        <p:nvSpPr>
          <p:cNvPr id="7" name="TextBox7"/>
          <p:cNvSpPr txBox="1">
            <a:spLocks noChangeArrowheads="1"/>
          </p:cNvSpPr>
          <p:nvPr/>
        </p:nvSpPr>
        <p:spPr>
          <a:xfrm>
            <a:off x="508000" y="1219200"/>
            <a:ext cx="81280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400" b="0" dirty="0">
                <a:solidFill>
                  <a:srgbClr val="00B4D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window of opportunity is open — but won't stay open forever.</a:t>
            </a:r>
          </a:p>
        </p:txBody>
      </p:sp>
      <p:sp>
        <p:nvSpPr>
          <p:cNvPr id="8" name="Rectangle8"/>
          <p:cNvSpPr>
            <a:spLocks/>
          </p:cNvSpPr>
          <p:nvPr/>
        </p:nvSpPr>
        <p:spPr>
          <a:xfrm>
            <a:off x="508000" y="1905000"/>
            <a:ext cx="101600" cy="101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9" name="TextBox9"/>
          <p:cNvSpPr txBox="1">
            <a:spLocks noChangeArrowheads="1"/>
          </p:cNvSpPr>
          <p:nvPr/>
        </p:nvSpPr>
        <p:spPr>
          <a:xfrm>
            <a:off x="736600" y="1803400"/>
            <a:ext cx="80264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Market is pre-consolidation — no single dominant player yet.</a:t>
            </a:r>
          </a:p>
        </p:txBody>
      </p:sp>
      <p:sp>
        <p:nvSpPr>
          <p:cNvPr id="10" name="Rectangle10"/>
          <p:cNvSpPr>
            <a:spLocks/>
          </p:cNvSpPr>
          <p:nvPr/>
        </p:nvSpPr>
        <p:spPr>
          <a:xfrm>
            <a:off x="508000" y="2438400"/>
            <a:ext cx="101600" cy="101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1" name="TextBox11"/>
          <p:cNvSpPr txBox="1">
            <a:spLocks noChangeArrowheads="1"/>
          </p:cNvSpPr>
          <p:nvPr/>
        </p:nvSpPr>
        <p:spPr>
          <a:xfrm>
            <a:off x="736600" y="2336800"/>
            <a:ext cx="80264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Incumbents are slow to adopt AI-native architecture — 18-24 month window before they catch up.</a:t>
            </a:r>
          </a:p>
        </p:txBody>
      </p:sp>
      <p:sp>
        <p:nvSpPr>
          <p:cNvPr id="12" name="Rectangle12"/>
          <p:cNvSpPr>
            <a:spLocks/>
          </p:cNvSpPr>
          <p:nvPr/>
        </p:nvSpPr>
        <p:spPr>
          <a:xfrm>
            <a:off x="508000" y="2971800"/>
            <a:ext cx="101600" cy="101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3" name="TextBox13"/>
          <p:cNvSpPr txBox="1">
            <a:spLocks noChangeArrowheads="1"/>
          </p:cNvSpPr>
          <p:nvPr/>
        </p:nvSpPr>
        <p:spPr>
          <a:xfrm>
            <a:off x="736600" y="2870200"/>
            <a:ext cx="80264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Enterprise procurement cycles are at reset — cloud contracts renewing 2026-2027.</a:t>
            </a:r>
          </a:p>
        </p:txBody>
      </p:sp>
      <p:sp>
        <p:nvSpPr>
          <p:cNvPr id="14" name="Rectangle14"/>
          <p:cNvSpPr>
            <a:spLocks/>
          </p:cNvSpPr>
          <p:nvPr/>
        </p:nvSpPr>
        <p:spPr>
          <a:xfrm>
            <a:off x="508000" y="3505200"/>
            <a:ext cx="101600" cy="101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5" name="TextBox15"/>
          <p:cNvSpPr txBox="1">
            <a:spLocks noChangeArrowheads="1"/>
          </p:cNvSpPr>
          <p:nvPr/>
        </p:nvSpPr>
        <p:spPr>
          <a:xfrm>
            <a:off x="736600" y="3403600"/>
            <a:ext cx="80264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Regulatory tailwinds create mandatory spend — compliance budgets are non-discretionary.</a:t>
            </a:r>
          </a:p>
        </p:txBody>
      </p:sp>
      <p:sp>
        <p:nvSpPr>
          <p:cNvPr id="16" name="Rectangle16"/>
          <p:cNvSpPr>
            <a:spLocks/>
          </p:cNvSpPr>
          <p:nvPr/>
        </p:nvSpPr>
        <p:spPr>
          <a:xfrm>
            <a:off x="508000" y="4038600"/>
            <a:ext cx="101600" cy="101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7" name="TextBox17"/>
          <p:cNvSpPr txBox="1">
            <a:spLocks noChangeArrowheads="1"/>
          </p:cNvSpPr>
          <p:nvPr/>
        </p:nvSpPr>
        <p:spPr>
          <a:xfrm>
            <a:off x="736600" y="3937000"/>
            <a:ext cx="80264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Talent market is favorable — top AI/ML engineers available after 2024-25 tech sector rebalancing.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0" y="0"/>
            <a:ext cx="9144000" cy="8890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4" name="Rectangle4"/>
          <p:cNvSpPr>
            <a:spLocks/>
          </p:cNvSpPr>
          <p:nvPr/>
        </p:nvSpPr>
        <p:spPr>
          <a:xfrm>
            <a:off x="0" y="863600"/>
            <a:ext cx="9144000" cy="508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5" name="TextBox5"/>
          <p:cNvSpPr txBox="1">
            <a:spLocks noChangeArrowheads="1"/>
          </p:cNvSpPr>
          <p:nvPr/>
        </p:nvSpPr>
        <p:spPr>
          <a:xfrm>
            <a:off x="381000" y="152400"/>
            <a:ext cx="8382000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22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Next Steps</a:t>
            </a:r>
          </a:p>
        </p:txBody>
      </p:sp>
      <p:sp>
        <p:nvSpPr>
          <p:cNvPr id="6" name="Rectangle6"/>
          <p:cNvSpPr>
            <a:spLocks/>
          </p:cNvSpPr>
          <p:nvPr/>
        </p:nvSpPr>
        <p:spPr>
          <a:xfrm>
            <a:off x="381000" y="1117600"/>
            <a:ext cx="3937000" cy="889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7" name="Rectangle7"/>
          <p:cNvSpPr>
            <a:spLocks/>
          </p:cNvSpPr>
          <p:nvPr/>
        </p:nvSpPr>
        <p:spPr>
          <a:xfrm>
            <a:off x="381000" y="1117600"/>
            <a:ext cx="558800" cy="889000"/>
          </a:xfrm>
          <a:prstGeom prst="rect">
            <a:avLst/>
          </a:prstGeom>
          <a:solidFill>
            <a:srgbClr val="1E5FA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8" name="TextBox8"/>
          <p:cNvSpPr txBox="1">
            <a:spLocks noChangeArrowheads="1"/>
          </p:cNvSpPr>
          <p:nvPr/>
        </p:nvSpPr>
        <p:spPr>
          <a:xfrm>
            <a:off x="381000" y="1117600"/>
            <a:ext cx="558800" cy="889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20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TextBox9"/>
          <p:cNvSpPr txBox="1">
            <a:spLocks noChangeArrowheads="1"/>
          </p:cNvSpPr>
          <p:nvPr/>
        </p:nvSpPr>
        <p:spPr>
          <a:xfrm>
            <a:off x="1041400" y="1270000"/>
            <a:ext cx="3175000" cy="584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050" b="0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Schedule a 30-minute product demo with your team</a:t>
            </a:r>
          </a:p>
        </p:txBody>
      </p:sp>
      <p:sp>
        <p:nvSpPr>
          <p:cNvPr id="10" name="Rectangle10"/>
          <p:cNvSpPr>
            <a:spLocks/>
          </p:cNvSpPr>
          <p:nvPr/>
        </p:nvSpPr>
        <p:spPr>
          <a:xfrm>
            <a:off x="4826000" y="1117600"/>
            <a:ext cx="3937000" cy="889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1" name="Rectangle11"/>
          <p:cNvSpPr>
            <a:spLocks/>
          </p:cNvSpPr>
          <p:nvPr/>
        </p:nvSpPr>
        <p:spPr>
          <a:xfrm>
            <a:off x="4826000" y="1117600"/>
            <a:ext cx="558800" cy="8890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2" name="TextBox12"/>
          <p:cNvSpPr txBox="1">
            <a:spLocks noChangeArrowheads="1"/>
          </p:cNvSpPr>
          <p:nvPr/>
        </p:nvSpPr>
        <p:spPr>
          <a:xfrm>
            <a:off x="4826000" y="1117600"/>
            <a:ext cx="558800" cy="889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20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TextBox13"/>
          <p:cNvSpPr txBox="1">
            <a:spLocks noChangeArrowheads="1"/>
          </p:cNvSpPr>
          <p:nvPr/>
        </p:nvSpPr>
        <p:spPr>
          <a:xfrm>
            <a:off x="5486400" y="1270000"/>
            <a:ext cx="3175000" cy="584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050" b="0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Review our detailed market research report (linked)</a:t>
            </a:r>
          </a:p>
        </p:txBody>
      </p:sp>
      <p:sp>
        <p:nvSpPr>
          <p:cNvPr id="14" name="Rectangle14"/>
          <p:cNvSpPr>
            <a:spLocks/>
          </p:cNvSpPr>
          <p:nvPr/>
        </p:nvSpPr>
        <p:spPr>
          <a:xfrm>
            <a:off x="381000" y="2222500"/>
            <a:ext cx="3937000" cy="889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5" name="Rectangle15"/>
          <p:cNvSpPr>
            <a:spLocks/>
          </p:cNvSpPr>
          <p:nvPr/>
        </p:nvSpPr>
        <p:spPr>
          <a:xfrm>
            <a:off x="381000" y="2222500"/>
            <a:ext cx="558800" cy="8890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6" name="TextBox16"/>
          <p:cNvSpPr txBox="1">
            <a:spLocks noChangeArrowheads="1"/>
          </p:cNvSpPr>
          <p:nvPr/>
        </p:nvSpPr>
        <p:spPr>
          <a:xfrm>
            <a:off x="381000" y="2222500"/>
            <a:ext cx="558800" cy="889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20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" name="TextBox17"/>
          <p:cNvSpPr txBox="1">
            <a:spLocks noChangeArrowheads="1"/>
          </p:cNvSpPr>
          <p:nvPr/>
        </p:nvSpPr>
        <p:spPr>
          <a:xfrm>
            <a:off x="1041400" y="2374900"/>
            <a:ext cx="3175000" cy="584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050" b="0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Connect with our enterprise sales team for a tailored ROI analysis</a:t>
            </a:r>
          </a:p>
        </p:txBody>
      </p:sp>
      <p:sp>
        <p:nvSpPr>
          <p:cNvPr id="18" name="Rectangle18"/>
          <p:cNvSpPr>
            <a:spLocks/>
          </p:cNvSpPr>
          <p:nvPr/>
        </p:nvSpPr>
        <p:spPr>
          <a:xfrm>
            <a:off x="4826000" y="2222500"/>
            <a:ext cx="3937000" cy="889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9" name="Rectangle19"/>
          <p:cNvSpPr>
            <a:spLocks/>
          </p:cNvSpPr>
          <p:nvPr/>
        </p:nvSpPr>
        <p:spPr>
          <a:xfrm>
            <a:off x="4826000" y="2222500"/>
            <a:ext cx="558800" cy="889000"/>
          </a:xfrm>
          <a:prstGeom prst="rect">
            <a:avLst/>
          </a:prstGeom>
          <a:solidFill>
            <a:srgbClr val="64B47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0" name="TextBox20"/>
          <p:cNvSpPr txBox="1">
            <a:spLocks noChangeArrowheads="1"/>
          </p:cNvSpPr>
          <p:nvPr/>
        </p:nvSpPr>
        <p:spPr>
          <a:xfrm>
            <a:off x="4826000" y="2222500"/>
            <a:ext cx="558800" cy="889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20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1" name="TextBox21"/>
          <p:cNvSpPr txBox="1">
            <a:spLocks noChangeArrowheads="1"/>
          </p:cNvSpPr>
          <p:nvPr/>
        </p:nvSpPr>
        <p:spPr>
          <a:xfrm>
            <a:off x="5486400" y="2374900"/>
            <a:ext cx="3175000" cy="584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050" b="0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Explore our pilot program — 90-day proof of value at no risk</a:t>
            </a:r>
          </a:p>
        </p:txBody>
      </p:sp>
      <p:sp>
        <p:nvSpPr>
          <p:cNvPr id="22" name="Rectangle22"/>
          <p:cNvSpPr>
            <a:spLocks/>
          </p:cNvSpPr>
          <p:nvPr/>
        </p:nvSpPr>
        <p:spPr>
          <a:xfrm>
            <a:off x="381000" y="3429000"/>
            <a:ext cx="8382000" cy="12192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3" name="TextBox23"/>
          <p:cNvSpPr txBox="1">
            <a:spLocks noChangeArrowheads="1"/>
          </p:cNvSpPr>
          <p:nvPr/>
        </p:nvSpPr>
        <p:spPr>
          <a:xfrm>
            <a:off x="508000" y="3530600"/>
            <a:ext cx="8128000" cy="381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16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Ready to Capture Your Market Share?</a:t>
            </a:r>
          </a:p>
        </p:txBody>
      </p:sp>
      <p:sp>
        <p:nvSpPr>
          <p:cNvPr id="24" name="TextBox24"/>
          <p:cNvSpPr txBox="1">
            <a:spLocks noChangeArrowheads="1"/>
          </p:cNvSpPr>
          <p:nvPr/>
        </p:nvSpPr>
        <p:spPr>
          <a:xfrm>
            <a:off x="508000" y="3987800"/>
            <a:ext cx="8128000" cy="330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1100" b="0" dirty="0">
                <a:solidFill>
                  <a:srgbClr val="00B4D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Contact us:  hello@company.com  |  +1 (800) 555-0100  |  www.company.com</a:t>
            </a:r>
          </a:p>
        </p:txBody>
      </p:sp>
      <p:sp>
        <p:nvSpPr>
          <p:cNvPr id="25" name="TextBox25"/>
          <p:cNvSpPr txBox="1">
            <a:spLocks noChangeArrowheads="1"/>
          </p:cNvSpPr>
          <p:nvPr/>
        </p:nvSpPr>
        <p:spPr>
          <a:xfrm>
            <a:off x="508000" y="4394200"/>
            <a:ext cx="8128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900" b="0" dirty="0">
                <a:solidFill>
                  <a:srgbClr val="A0B9D7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2026 Company Name.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Pages>0</Pages>
  <Words>723</Words>
  <Characters>0</Characters>
  <Application>Microsoft Office PowerPoint</Application>
  <PresentationFormat>On-screen Show (16:9)</PresentationFormat>
  <Lines>0</Lines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Opportunity</dc:title>
  <dc:subject>Market Opportunity Analysis</dc:subject>
  <dc:creator>Strategy Team</dc:creator>
  <cp:lastModifiedBy>Tamilselvan Durairaj</cp:lastModifiedBy>
  <cp:revision>8</cp:revision>
  <dcterms:modified xsi:type="dcterms:W3CDTF">2026-08-12T07:59:33Z</dcterms:modified>
</cp:coreProperties>
</file>